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Shape 12"/>
          <p:cNvSpPr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Shape 21"/>
          <p:cNvSpPr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/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pic" sz="half" idx="13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Shape 39"/>
          <p:cNvSpPr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Shape 40"/>
          <p:cNvSpPr/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hape 4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Shape 57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type="pic" sz="half" idx="13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Shape 6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hape 67"/>
          <p:cNvSpPr/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Shape 84"/>
          <p:cNvSpPr/>
          <p:nvPr>
            <p:ph type="pic" sz="quarter" idx="14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Shape 85"/>
          <p:cNvSpPr/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hape 8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>
            <p:ph type="body" sz="quarter" idx="13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Shape 94"/>
          <p:cNvSpPr/>
          <p:nvPr>
            <p:ph type="body" sz="quarter" idx="14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hape 9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hape 10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>
            <p:ph type="ctrTitle"/>
          </p:nvPr>
        </p:nvSpPr>
        <p:spPr>
          <a:xfrm>
            <a:off x="1270000" y="12446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Multi-Agent</a:t>
            </a:r>
          </a:p>
        </p:txBody>
      </p:sp>
      <p:sp>
        <p:nvSpPr>
          <p:cNvPr id="120" name="Shape 120"/>
          <p:cNvSpPr/>
          <p:nvPr>
            <p:ph type="subTitle" sz="quarter" idx="1"/>
          </p:nvPr>
        </p:nvSpPr>
        <p:spPr>
          <a:xfrm>
            <a:off x="1270000" y="4635500"/>
            <a:ext cx="10464800" cy="1130300"/>
          </a:xfrm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pPr/>
            <a:r>
              <a:t>Programming</a:t>
            </a:r>
          </a:p>
        </p:txBody>
      </p:sp>
      <p:sp>
        <p:nvSpPr>
          <p:cNvPr id="121" name="Shape 121"/>
          <p:cNvSpPr/>
          <p:nvPr/>
        </p:nvSpPr>
        <p:spPr>
          <a:xfrm>
            <a:off x="1270000" y="6207102"/>
            <a:ext cx="10464800" cy="330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>
              <a:defRPr sz="2200"/>
            </a:pPr>
            <a:r>
              <a:t>Mentor : Mr. Kishore Kumar Yaramshetty</a:t>
            </a:r>
          </a:p>
          <a:p>
            <a:pPr>
              <a:defRPr sz="2200"/>
            </a:pPr>
          </a:p>
          <a:p>
            <a:pPr>
              <a:defRPr sz="2200"/>
            </a:pPr>
          </a:p>
          <a:p>
            <a:pPr>
              <a:defRPr sz="2200"/>
            </a:pPr>
            <a:r>
              <a:t>by :</a:t>
            </a:r>
          </a:p>
          <a:p>
            <a:pPr>
              <a:defRPr sz="2200"/>
            </a:pPr>
            <a:r>
              <a:t>Chinmay Phutela - 13103467</a:t>
            </a:r>
          </a:p>
          <a:p>
            <a:pPr>
              <a:defRPr sz="2200"/>
            </a:pPr>
            <a:r>
              <a:t>Shubham Kumar Jain  - 13103481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asted-image.png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0" t="4583" r="0" b="493"/>
          <a:stretch>
            <a:fillRect/>
          </a:stretch>
        </p:blipFill>
        <p:spPr>
          <a:xfrm>
            <a:off x="3044233" y="847052"/>
            <a:ext cx="6916452" cy="3145627"/>
          </a:xfrm>
          <a:prstGeom prst="rect">
            <a:avLst/>
          </a:prstGeom>
        </p:spPr>
      </p:pic>
      <p:sp>
        <p:nvSpPr>
          <p:cNvPr id="124" name="Shape 124"/>
          <p:cNvSpPr/>
          <p:nvPr>
            <p:ph type="body" sz="half" idx="1"/>
          </p:nvPr>
        </p:nvSpPr>
        <p:spPr>
          <a:xfrm>
            <a:off x="952500" y="4455238"/>
            <a:ext cx="11099800" cy="4561762"/>
          </a:xfrm>
          <a:prstGeom prst="rect">
            <a:avLst/>
          </a:prstGeom>
        </p:spPr>
        <p:txBody>
          <a:bodyPr/>
          <a:lstStyle/>
          <a:p>
            <a:pPr marL="0" indent="0" defTabSz="502412">
              <a:spcBef>
                <a:spcPts val="2700"/>
              </a:spcBef>
              <a:buSzTx/>
              <a:buNone/>
              <a:defRPr sz="2580"/>
            </a:pPr>
            <a:r>
              <a:t>An agent is anything that can perceive its environment through sensors and acts upon that environment through effectors. </a:t>
            </a:r>
          </a:p>
          <a:p>
            <a:pPr marL="294894" indent="-294894" defTabSz="502412">
              <a:spcBef>
                <a:spcPts val="2700"/>
              </a:spcBef>
              <a:defRPr sz="2580"/>
            </a:pPr>
            <a:r>
              <a:t>A human agent has sensory organs such as eyes, ears, nose, tongue and skin parallel to the sensors, and other organs such as hands, legs, mouth, for effectors.</a:t>
            </a:r>
          </a:p>
          <a:p>
            <a:pPr marL="294894" indent="-294894" defTabSz="502412">
              <a:spcBef>
                <a:spcPts val="2700"/>
              </a:spcBef>
              <a:defRPr sz="2580"/>
            </a:pPr>
            <a:r>
              <a:t>    A robotic agent replaces cameras and infrared range finders for the sensors, and various motors and actuators for effectors.</a:t>
            </a:r>
          </a:p>
          <a:p>
            <a:pPr marL="294894" indent="-294894" defTabSz="502412">
              <a:spcBef>
                <a:spcPts val="2700"/>
              </a:spcBef>
              <a:defRPr sz="2580"/>
            </a:pPr>
            <a:r>
              <a:t>    A software agent has encoded bit strings as its programs and actions.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8queens.jpg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1793" t="0" r="0" b="0"/>
          <a:stretch>
            <a:fillRect/>
          </a:stretch>
        </p:blipFill>
        <p:spPr>
          <a:xfrm>
            <a:off x="6718300" y="2717800"/>
            <a:ext cx="5329580" cy="5512360"/>
          </a:xfrm>
          <a:prstGeom prst="rect">
            <a:avLst/>
          </a:prstGeom>
        </p:spPr>
      </p:pic>
      <p:sp>
        <p:nvSpPr>
          <p:cNvPr id="127" name="Shape 127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>
              <a:defRPr sz="5000"/>
            </a:lvl1pPr>
          </a:lstStyle>
          <a:p>
            <a:pPr/>
            <a:r>
              <a:t>What is N-Queen problem?</a:t>
            </a:r>
          </a:p>
        </p:txBody>
      </p:sp>
      <p:sp>
        <p:nvSpPr>
          <p:cNvPr id="128" name="Shape 128"/>
          <p:cNvSpPr/>
          <p:nvPr>
            <p:ph type="body" sz="half" idx="1"/>
          </p:nvPr>
        </p:nvSpPr>
        <p:spPr>
          <a:xfrm>
            <a:off x="952500" y="2400300"/>
            <a:ext cx="5940723" cy="6286500"/>
          </a:xfrm>
          <a:prstGeom prst="rect">
            <a:avLst/>
          </a:prstGeom>
        </p:spPr>
        <p:txBody>
          <a:bodyPr/>
          <a:lstStyle/>
          <a:p>
            <a:pPr marL="0" marR="756284" indent="0" algn="just" defTabSz="457200">
              <a:lnSpc>
                <a:spcPct val="115000"/>
              </a:lnSpc>
              <a:spcBef>
                <a:spcPts val="700"/>
              </a:spcBef>
              <a:buSzTx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N Queen is the problem of placing N chess queens on an N×N chessboard so that no two queens attack each other. </a:t>
            </a:r>
          </a:p>
          <a:p>
            <a:pPr marL="0" marR="756284" indent="0" algn="just" defTabSz="457200">
              <a:lnSpc>
                <a:spcPct val="115000"/>
              </a:lnSpc>
              <a:spcBef>
                <a:spcPts val="700"/>
              </a:spcBef>
              <a:buSzTx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0" marR="756284" indent="0" algn="just" defTabSz="457200">
              <a:lnSpc>
                <a:spcPct val="115000"/>
              </a:lnSpc>
              <a:spcBef>
                <a:spcPts val="700"/>
              </a:spcBef>
              <a:buSzTx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For example, following is a solution for 8 Queen Problem.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>
            <p:ph type="title"/>
          </p:nvPr>
        </p:nvSpPr>
        <p:spPr>
          <a:xfrm>
            <a:off x="1270000" y="771653"/>
            <a:ext cx="10464800" cy="1422401"/>
          </a:xfrm>
          <a:prstGeom prst="rect">
            <a:avLst/>
          </a:prstGeom>
        </p:spPr>
        <p:txBody>
          <a:bodyPr/>
          <a:lstStyle>
            <a:lvl1pPr algn="l">
              <a:defRPr sz="5000"/>
            </a:lvl1pPr>
          </a:lstStyle>
          <a:p>
            <a:pPr/>
            <a:r>
              <a:t>Applications</a:t>
            </a:r>
          </a:p>
        </p:txBody>
      </p:sp>
      <p:pic>
        <p:nvPicPr>
          <p:cNvPr id="131" name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57659" y="3020957"/>
            <a:ext cx="5467615" cy="42498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pasted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44280" y="3020957"/>
            <a:ext cx="4249828" cy="4249829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Shape 133"/>
          <p:cNvSpPr/>
          <p:nvPr/>
        </p:nvSpPr>
        <p:spPr>
          <a:xfrm>
            <a:off x="1697552" y="7510808"/>
            <a:ext cx="4343285" cy="142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defRPr sz="3000"/>
            </a:lvl1pPr>
          </a:lstStyle>
          <a:p>
            <a:pPr/>
            <a:r>
              <a:t>Sudoku Solver</a:t>
            </a:r>
          </a:p>
        </p:txBody>
      </p:sp>
      <p:sp>
        <p:nvSpPr>
          <p:cNvPr id="134" name="Shape 134"/>
          <p:cNvSpPr/>
          <p:nvPr/>
        </p:nvSpPr>
        <p:spPr>
          <a:xfrm>
            <a:off x="6819824" y="7510808"/>
            <a:ext cx="4343285" cy="142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defRPr sz="3000"/>
            </a:lvl1pPr>
          </a:lstStyle>
          <a:p>
            <a:pPr/>
            <a:r>
              <a:t>Magic Squares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>
              <a:defRPr sz="5000"/>
            </a:lvl1pPr>
          </a:lstStyle>
          <a:p>
            <a:pPr/>
            <a:r>
              <a:t>Current Approaches &amp; Drawbacks</a:t>
            </a:r>
          </a:p>
        </p:txBody>
      </p:sp>
      <p:pic>
        <p:nvPicPr>
          <p:cNvPr id="137" name="Screen Shot 2017-03-28 at 11.38.31 pm.png"/>
          <p:cNvPicPr>
            <a:picLocks noChangeAspect="1"/>
          </p:cNvPicPr>
          <p:nvPr/>
        </p:nvPicPr>
        <p:blipFill>
          <a:blip r:embed="rId2">
            <a:extLst/>
          </a:blip>
          <a:srcRect l="29243" t="36361" r="39446" b="29530"/>
          <a:stretch>
            <a:fillRect/>
          </a:stretch>
        </p:blipFill>
        <p:spPr>
          <a:xfrm>
            <a:off x="1680567" y="2508352"/>
            <a:ext cx="9681423" cy="65914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5000"/>
            </a:pPr>
            <a:r>
              <a:t>What is </a:t>
            </a:r>
          </a:p>
          <a:p>
            <a:pPr/>
            <a:r>
              <a:t>Agent Programming?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/>
          <p:nvPr>
            <p:ph type="body" idx="1"/>
          </p:nvPr>
        </p:nvSpPr>
        <p:spPr>
          <a:xfrm>
            <a:off x="952500" y="969447"/>
            <a:ext cx="11099800" cy="7213601"/>
          </a:xfrm>
          <a:prstGeom prst="rect">
            <a:avLst/>
          </a:prstGeom>
        </p:spPr>
        <p:txBody>
          <a:bodyPr anchor="t"/>
          <a:lstStyle>
            <a:lvl1pPr marL="0" indent="0" algn="just">
              <a:buSzTx/>
              <a:buNone/>
              <a:defRPr sz="3000"/>
            </a:lvl1pPr>
          </a:lstStyle>
          <a:p>
            <a:pPr/>
            <a:r>
              <a:t>Agent-oriented programming (AOP) is a programming paradigm where the construction of the software is centered on the concept of software agents. In contrast to object-oriented programming which has objects at its core, AOP has externally specified agents at its core.</a:t>
            </a:r>
          </a:p>
        </p:txBody>
      </p:sp>
      <p:pic>
        <p:nvPicPr>
          <p:cNvPr id="142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14600" y="4191000"/>
            <a:ext cx="8229600" cy="4673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>
              <a:defRPr sz="5000"/>
            </a:lvl1pPr>
          </a:lstStyle>
          <a:p>
            <a:pPr/>
            <a:r>
              <a:t>Applications</a:t>
            </a:r>
          </a:p>
        </p:txBody>
      </p:sp>
      <p:sp>
        <p:nvSpPr>
          <p:cNvPr id="145" name="Shape 145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3000"/>
            </a:lvl1pPr>
          </a:lstStyle>
          <a:p>
            <a:pPr/>
            <a:r>
              <a:t>Agent Programming, being a subset of Artificial Intelligence has many real-life applications such as:</a:t>
            </a:r>
          </a:p>
        </p:txBody>
      </p:sp>
      <p:pic>
        <p:nvPicPr>
          <p:cNvPr id="146" name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9169" y="5386552"/>
            <a:ext cx="5408162" cy="3090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pasted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68976" y="4306853"/>
            <a:ext cx="5408162" cy="27040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 defTabSz="531622">
              <a:defRPr sz="4550"/>
            </a:pPr>
            <a:r>
              <a:t>Introducing 2APL - </a:t>
            </a:r>
          </a:p>
          <a:p>
            <a:pPr algn="l" defTabSz="531622">
              <a:defRPr sz="4550"/>
            </a:pPr>
            <a:r>
              <a:t>A Practical Agent Programming Language</a:t>
            </a:r>
          </a:p>
        </p:txBody>
      </p:sp>
      <p:sp>
        <p:nvSpPr>
          <p:cNvPr id="150" name="Shape 150"/>
          <p:cNvSpPr/>
          <p:nvPr>
            <p:ph type="body" idx="1"/>
          </p:nvPr>
        </p:nvSpPr>
        <p:spPr>
          <a:xfrm>
            <a:off x="952500" y="2857500"/>
            <a:ext cx="11099800" cy="6286500"/>
          </a:xfrm>
          <a:prstGeom prst="rect">
            <a:avLst/>
          </a:prstGeom>
        </p:spPr>
        <p:txBody>
          <a:bodyPr/>
          <a:lstStyle/>
          <a:p>
            <a:pPr marL="0" indent="0" algn="just" defTabSz="457200">
              <a:spcBef>
                <a:spcPts val="0"/>
              </a:spcBef>
              <a:buSzTx/>
              <a:buNone/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2APL is a BDI-based agent-oriented programming language that supports an effective integration of multi-agent system programming constructs such as belief and goals and imperative style programming constructs such as events and plans. </a:t>
            </a:r>
          </a:p>
          <a:p>
            <a:pPr marL="0" indent="0" algn="just" defTabSz="457200">
              <a:spcBef>
                <a:spcPts val="0"/>
              </a:spcBef>
              <a:buSzTx/>
              <a:buNone/>
              <a:defRPr sz="3000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marL="0" indent="0" algn="just" defTabSz="457200">
              <a:spcBef>
                <a:spcPts val="0"/>
              </a:spcBef>
              <a:buSzTx/>
              <a:buNone/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Agents hosted on different 2APL platforms can communicate with each other. 2APL interpreter is built on the JADE platform.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>
              <a:defRPr sz="5000"/>
            </a:lvl1pPr>
          </a:lstStyle>
          <a:p>
            <a:pPr/>
            <a:r>
              <a:t>2APL Architecture</a:t>
            </a:r>
          </a:p>
        </p:txBody>
      </p:sp>
      <p:pic>
        <p:nvPicPr>
          <p:cNvPr id="153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45488" y="3109964"/>
            <a:ext cx="6400801" cy="4521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>
              <a:defRPr sz="5000"/>
            </a:lvl1pPr>
          </a:lstStyle>
          <a:p>
            <a:pPr/>
            <a:r>
              <a:t>2APL Modules</a:t>
            </a:r>
          </a:p>
        </p:txBody>
      </p:sp>
      <p:sp>
        <p:nvSpPr>
          <p:cNvPr id="156" name="Shape 156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14841" indent="-214841" defTabSz="265175">
              <a:spcBef>
                <a:spcPts val="0"/>
              </a:spcBef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Belief Base -</a:t>
            </a: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Implemented by a subset of first-order predicate language (prolog like facts and rules)</a:t>
            </a: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214841" indent="-214841" defTabSz="265175">
              <a:spcBef>
                <a:spcPts val="0"/>
              </a:spcBef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Goal Base -</a:t>
            </a: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Implemented by expressions of an imperative language ( procedural or to-do goals)</a:t>
            </a: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214841" indent="-214841" defTabSz="265175">
              <a:spcBef>
                <a:spcPts val="0"/>
              </a:spcBef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Plan Base -</a:t>
            </a: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Built from basic actions composed through program operators sequential “;”, iteration “while-do”, conditional “if-then-else”</a:t>
            </a: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30911" indent="-165734" defTabSz="265175">
              <a:spcBef>
                <a:spcPts val="0"/>
              </a:spcBef>
              <a:buSzTx/>
              <a:buNone/>
              <a:defRPr sz="1740"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pic>
        <p:nvPicPr>
          <p:cNvPr id="157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65816" y="3569453"/>
            <a:ext cx="7305168" cy="8228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pasted-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43540" y="5600992"/>
            <a:ext cx="7149720" cy="8411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pasted-image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93482" y="8002220"/>
            <a:ext cx="5677663" cy="5759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>
            <p:ph type="body" idx="1"/>
          </p:nvPr>
        </p:nvSpPr>
        <p:spPr>
          <a:xfrm>
            <a:off x="952500" y="635000"/>
            <a:ext cx="11099800" cy="8673763"/>
          </a:xfrm>
          <a:prstGeom prst="rect">
            <a:avLst/>
          </a:prstGeom>
        </p:spPr>
        <p:txBody>
          <a:bodyPr anchor="t"/>
          <a:lstStyle/>
          <a:p>
            <a:pPr marL="229658" indent="-229658" defTabSz="283463">
              <a:spcBef>
                <a:spcPts val="0"/>
              </a:spcBef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Action Base -</a:t>
            </a:r>
          </a:p>
          <a:p>
            <a:pPr marL="460629" indent="-177164" defTabSz="283463">
              <a:spcBef>
                <a:spcPts val="0"/>
              </a:spcBef>
              <a:buSzTx/>
              <a:buNone/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Implemented as triplets consisting of action name together with pre-condition (under which action can be performed) and post-conditions (effect of the action after it’s performed)</a:t>
            </a:r>
          </a:p>
          <a:p>
            <a:pPr marL="460629" indent="-177164" defTabSz="283463">
              <a:spcBef>
                <a:spcPts val="0"/>
              </a:spcBef>
              <a:buSzTx/>
              <a:buNone/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229658" indent="-229658" defTabSz="283463">
              <a:spcBef>
                <a:spcPts val="0"/>
              </a:spcBef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Goal Plan Rules -</a:t>
            </a:r>
          </a:p>
          <a:p>
            <a:pPr marL="460629" indent="-177164" defTabSz="283463">
              <a:spcBef>
                <a:spcPts val="0"/>
              </a:spcBef>
              <a:buSzTx/>
              <a:buNone/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Revision blocked actions, not achievable goals, generation/optimize goals</a:t>
            </a:r>
          </a:p>
          <a:p>
            <a:pPr marL="460629" indent="-177164" defTabSz="283463">
              <a:spcBef>
                <a:spcPts val="0"/>
              </a:spcBef>
              <a:buSzTx/>
              <a:buNone/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60629" indent="-177164" defTabSz="283463">
              <a:spcBef>
                <a:spcPts val="0"/>
              </a:spcBef>
              <a:buSzTx/>
              <a:buNone/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60629" indent="-177164" defTabSz="283463">
              <a:spcBef>
                <a:spcPts val="0"/>
              </a:spcBef>
              <a:buSzTx/>
              <a:buNone/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60629" indent="-177164" defTabSz="283463">
              <a:spcBef>
                <a:spcPts val="0"/>
              </a:spcBef>
              <a:buSzTx/>
              <a:buNone/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60629" indent="-177164" defTabSz="283463">
              <a:spcBef>
                <a:spcPts val="0"/>
              </a:spcBef>
              <a:buSzTx/>
              <a:buNone/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60629" indent="-177164" defTabSz="283463">
              <a:spcBef>
                <a:spcPts val="0"/>
              </a:spcBef>
              <a:buSzTx/>
              <a:buNone/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60629" indent="-177164" defTabSz="283463">
              <a:spcBef>
                <a:spcPts val="0"/>
              </a:spcBef>
              <a:buSzTx/>
              <a:buNone/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</a:t>
            </a:r>
          </a:p>
          <a:p>
            <a:pPr marL="460629" indent="-177164" defTabSz="283463">
              <a:spcBef>
                <a:spcPts val="0"/>
              </a:spcBef>
              <a:buSzTx/>
              <a:buNone/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60629" indent="-177164" defTabSz="283463">
              <a:spcBef>
                <a:spcPts val="0"/>
              </a:spcBef>
              <a:buSzTx/>
              <a:buNone/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60629" indent="-177164" defTabSz="283463">
              <a:spcBef>
                <a:spcPts val="0"/>
              </a:spcBef>
              <a:buSzTx/>
              <a:buNone/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60629" indent="-177164" defTabSz="283463">
              <a:spcBef>
                <a:spcPts val="0"/>
              </a:spcBef>
              <a:buSzTx/>
              <a:buNone/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460629" indent="-177164" defTabSz="283463">
              <a:spcBef>
                <a:spcPts val="0"/>
              </a:spcBef>
              <a:buSzTx/>
              <a:buNone/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229658" indent="-229658" defTabSz="283463">
              <a:spcBef>
                <a:spcPts val="0"/>
              </a:spcBef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Plan Revision Rules – Used to revise, adopt, and drop plans</a:t>
            </a:r>
            <a:br/>
            <a:br/>
            <a:br/>
            <a:br/>
            <a:br/>
            <a:br/>
            <a:br/>
            <a:br/>
            <a:br/>
          </a:p>
          <a:p>
            <a:pPr marL="212597" indent="-212597" defTabSz="283463">
              <a:spcBef>
                <a:spcPts val="0"/>
              </a:spcBef>
              <a:buSzTx/>
              <a:buNone/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229658" indent="-229658" defTabSz="283463">
              <a:spcBef>
                <a:spcPts val="0"/>
              </a:spcBef>
              <a:defRPr sz="186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Interpreter - Implementing the Deliberation process. Applying reasoning rules, selecting goals and actions</a:t>
            </a:r>
          </a:p>
        </p:txBody>
      </p:sp>
      <p:pic>
        <p:nvPicPr>
          <p:cNvPr id="162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02330" y="2618353"/>
            <a:ext cx="6070006" cy="22595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pasted-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3353" y="2544876"/>
            <a:ext cx="4641450" cy="2504117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pasted-image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334384" y="6064586"/>
            <a:ext cx="6336031" cy="18285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>
              <a:defRPr sz="5000"/>
            </a:lvl1pPr>
          </a:lstStyle>
          <a:p>
            <a:pPr/>
            <a:r>
              <a:t>2APL Deliberation Cycle</a:t>
            </a:r>
          </a:p>
        </p:txBody>
      </p:sp>
      <p:pic>
        <p:nvPicPr>
          <p:cNvPr id="167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37211" y="2929633"/>
            <a:ext cx="9330378" cy="56469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